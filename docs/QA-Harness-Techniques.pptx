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64240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31937"/>
                </a:solidFill>
                <a:latin typeface="Arial"/>
              </a:rPr>
              <a:t>CGI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Arial"/>
              </a:rPr>
              <a:t>QA Harness — Techniques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5C5C"/>
                </a:solidFill>
                <a:latin typeface="Arial"/>
              </a:rPr>
              <a:t>1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31937"/>
                </a:solidFill>
                <a:latin typeface="Arial"/>
              </a:rPr>
              <a:t>CGI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5C5C"/>
                </a:solidFill>
                <a:latin typeface="Arial"/>
              </a:rPr>
              <a:t>TECHNIQUES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Arial"/>
              </a:rPr>
              <a:t>Agent-Driven QA Harness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49039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5C5C"/>
                </a:solidFill>
                <a:latin typeface="Arial"/>
              </a:rPr>
              <a:t>Cursor agents · Playwright conventions · CI guardrails
How the harness turns tickets into reliable automated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29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1937"/>
                </a:solidFill>
                <a:latin typeface="Arial"/>
              </a:rPr>
              <a:t>Insights you can act 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69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Arial"/>
              </a:rPr>
              <a:t>Focus: engineering techniques — not the product under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64240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31937"/>
                </a:solidFill>
                <a:latin typeface="Arial"/>
              </a:rPr>
              <a:t>CGI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Arial"/>
              </a:rPr>
              <a:t>QA Harness — Techniques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5C5C"/>
                </a:solidFill>
                <a:latin typeface="Arial"/>
              </a:rPr>
              <a:t>2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Arial"/>
              </a:rP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Arial"/>
              </a:rPr>
              <a:t>What we will cover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417320"/>
            <a:ext cx="5303520" cy="9601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618488"/>
            <a:ext cx="685800" cy="502920"/>
          </a:xfrm>
          <a:prstGeom prst="round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sz="14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67335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Arial"/>
              </a:rPr>
              <a:t>Problem &amp; approach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03520" cy="9601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1618488"/>
            <a:ext cx="685800" cy="502920"/>
          </a:xfrm>
          <a:prstGeom prst="round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sz="14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167335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Arial"/>
              </a:rPr>
              <a:t>Architecture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514600"/>
            <a:ext cx="5303520" cy="9601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2715768"/>
            <a:ext cx="685800" cy="502920"/>
          </a:xfrm>
          <a:prstGeom prst="round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sz="14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277063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Arial"/>
              </a:rPr>
              <a:t>Agents &amp; entry points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514600"/>
            <a:ext cx="5303520" cy="9601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0" y="2715768"/>
            <a:ext cx="685800" cy="502920"/>
          </a:xfrm>
          <a:prstGeom prst="round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sz="14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277063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Arial"/>
              </a:rPr>
              <a:t>Test stack &amp; skills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611880"/>
            <a:ext cx="5303520" cy="9601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3813048"/>
            <a:ext cx="685800" cy="502920"/>
          </a:xfrm>
          <a:prstGeom prst="round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sz="14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386791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Arial"/>
              </a:rPr>
              <a:t>Conventions &amp; guardrails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611880"/>
            <a:ext cx="5303520" cy="9601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0" y="3813048"/>
            <a:ext cx="685800" cy="502920"/>
          </a:xfrm>
          <a:prstGeom prst="round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sz="140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386791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Arial"/>
              </a:rPr>
              <a:t>Happy path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709160"/>
            <a:ext cx="5303520" cy="9601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60" y="4910328"/>
            <a:ext cx="685800" cy="502920"/>
          </a:xfrm>
          <a:prstGeom prst="round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sz="1400" b="1">
                <a:solidFill>
                  <a:srgbClr val="FFFFFF"/>
                </a:solidFill>
                <a:latin typeface="Arial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496519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Arial"/>
              </a:rPr>
              <a:t>Heal on red &amp; CI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709160"/>
            <a:ext cx="5303520" cy="9601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0" y="4910328"/>
            <a:ext cx="685800" cy="502920"/>
          </a:xfrm>
          <a:prstGeom prst="round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sz="1400" b="1">
                <a:solidFill>
                  <a:srgbClr val="FFFFFF"/>
                </a:solidFill>
                <a:latin typeface="Arial"/>
              </a:rP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496519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Arial"/>
              </a:rPr>
              <a:t>Key 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64240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31937"/>
                </a:solidFill>
                <a:latin typeface="Arial"/>
              </a:rPr>
              <a:t>CGI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Arial"/>
              </a:rPr>
              <a:t>QA Harness — Techniques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5C5C"/>
                </a:solidFill>
                <a:latin typeface="Arial"/>
              </a:rPr>
              <a:t>3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Arial"/>
              </a:rPr>
              <a:t>Problem &amp;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Arial"/>
              </a:rPr>
              <a:t>Why a harness — not just a test suite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371600"/>
            <a:ext cx="5394960" cy="4572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371600"/>
            <a:ext cx="73152" cy="457200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31937"/>
                </a:solidFill>
                <a:latin typeface="Arial"/>
              </a:rPr>
              <a:t>THE 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920240"/>
            <a:ext cx="50292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Ticket → tests is slow and inconsistent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UI drift breaks locators silently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Agents can invent paths or weaken asserts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Flakes and leftover data erode trust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Humans must stay in the loop for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5394960" cy="4572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73152" cy="457200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31937"/>
                </a:solidFill>
                <a:latin typeface="Arial"/>
              </a:rPr>
              <a:t>THE APPROACH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920240"/>
            <a:ext cx="50292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Coordinator delegates to specialist agents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Skills encode repeatable procedures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Constitution: MUST / SHOULD / WON'T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Hooks block weakened assertions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Human gates on plan review &amp; merge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Reliability eval before declaring Done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64240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31937"/>
                </a:solidFill>
                <a:latin typeface="Arial"/>
              </a:rPr>
              <a:t>CGI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Arial"/>
              </a:rPr>
              <a:t>QA Harness — Techniques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5C5C"/>
                </a:solidFill>
                <a:latin typeface="Arial"/>
              </a:rPr>
              <a:t>4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Arial"/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Arial"/>
              </a:rPr>
              <a:t>From trigger to external systems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325880"/>
            <a:ext cx="2286000" cy="502920"/>
          </a:xfrm>
          <a:prstGeom prst="round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</a:pPr>
            <a:r>
              <a:rPr sz="1200" b="1">
                <a:solidFill>
                  <a:srgbClr val="FFFFFF"/>
                </a:solidFill>
                <a:latin typeface="Arial"/>
              </a:rPr>
              <a:t>Triggers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39903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rial"/>
              </a:rPr>
              <a:t>Jira tickets · gaps · red CI · cron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984248"/>
            <a:ext cx="2286000" cy="50292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</a:pPr>
            <a:r>
              <a:rPr sz="1200" b="1">
                <a:solidFill>
                  <a:srgbClr val="FFFFFF"/>
                </a:solidFill>
                <a:latin typeface="Arial"/>
              </a:rPr>
              <a:t>Coordinator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0574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rial"/>
              </a:rPr>
              <a:t>QA Orchestrator (+ headless CI runner)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642616"/>
            <a:ext cx="2286000" cy="502920"/>
          </a:xfrm>
          <a:prstGeom prst="round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</a:pPr>
            <a:r>
              <a:rPr sz="1200" b="1">
                <a:solidFill>
                  <a:srgbClr val="FFFFFF"/>
                </a:solidFill>
                <a:latin typeface="Arial"/>
              </a:rPr>
              <a:t>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71576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rial"/>
              </a:rPr>
              <a:t>test-writer · triage · bug-reporter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300984"/>
            <a:ext cx="2286000" cy="50292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</a:pPr>
            <a:r>
              <a:rPr sz="1200" b="1">
                <a:solidFill>
                  <a:srgbClr val="FFFFFF"/>
                </a:solidFill>
                <a:latin typeface="Arial"/>
              </a:rPr>
              <a:t>Skills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374136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rial"/>
              </a:rPr>
              <a:t>Analyzer, explore, heal, cleanup, eval…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959352"/>
            <a:ext cx="2286000" cy="502920"/>
          </a:xfrm>
          <a:prstGeom prst="round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</a:pPr>
            <a:r>
              <a:rPr sz="1200" b="1">
                <a:solidFill>
                  <a:srgbClr val="FFFFFF"/>
                </a:solidFill>
                <a:latin typeface="Arial"/>
              </a:rPr>
              <a:t>Test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032504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rial"/>
              </a:rPr>
              <a:t>Features → specs → pages → fixtures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17720"/>
            <a:ext cx="2286000" cy="50292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</a:pPr>
            <a:r>
              <a:rPr sz="1200" b="1">
                <a:solidFill>
                  <a:srgbClr val="FFFFFF"/>
                </a:solidFill>
                <a:latin typeface="Arial"/>
              </a:rPr>
              <a:t>Guardrails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69087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rial"/>
              </a:rPr>
              <a:t>Constitution · hooks · conventions · humans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276088"/>
            <a:ext cx="2286000" cy="502920"/>
          </a:xfrm>
          <a:prstGeom prst="round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</a:pPr>
            <a:r>
              <a:rPr sz="1200" b="1">
                <a:solidFill>
                  <a:srgbClr val="FFFFFF"/>
                </a:solidFill>
                <a:latin typeface="Arial"/>
              </a:rPr>
              <a:t>CI / external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3492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rial"/>
              </a:rPr>
              <a:t>GitHub Actions · Jira · project under test · MCPs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64240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31937"/>
                </a:solidFill>
                <a:latin typeface="Arial"/>
              </a:rPr>
              <a:t>CGI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Arial"/>
              </a:rPr>
              <a:t>QA Harness — Techniques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5C5C"/>
                </a:solidFill>
                <a:latin typeface="Arial"/>
              </a:rPr>
              <a:t>5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Arial"/>
              </a:rPr>
              <a:t>Agents &amp; entry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Arial"/>
              </a:rPr>
              <a:t>Narrow roles — coordinator never does everything alone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325880"/>
            <a:ext cx="2788920" cy="14173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0876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Arial"/>
              </a:rPr>
              <a:t>1. Jira ticket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96596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C5C5C"/>
                </a:solidFill>
                <a:latin typeface="Arial"/>
              </a:rPr>
              <a:t>DS-* AC → Gherkin plan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1325880"/>
            <a:ext cx="2788920" cy="14173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50876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Arial"/>
              </a:rPr>
              <a:t>2. Coverage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196596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C5C5C"/>
                </a:solidFill>
                <a:latin typeface="Arial"/>
              </a:rPr>
              <a:t>Live UI vs specs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325880"/>
            <a:ext cx="2788920" cy="14173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50876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Arial"/>
              </a:rPr>
              <a:t>3. Red CI 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96596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C5C5C"/>
                </a:solidFill>
                <a:latin typeface="Arial"/>
              </a:rPr>
              <a:t>triage → heal or bug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1325880"/>
            <a:ext cx="2788920" cy="14173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0876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Arial"/>
              </a:rPr>
              <a:t>4. Daily cron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196596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C5C5C"/>
                </a:solidFill>
                <a:latin typeface="Arial"/>
              </a:rPr>
              <a:t>Headless backlog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2971800"/>
            <a:ext cx="3657600" cy="288036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2971800"/>
            <a:ext cx="3657600" cy="50292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063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test-writer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7033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2D2D2D"/>
                </a:solidFill>
                <a:latin typeface="Arial"/>
              </a:rPr>
              <a:t>•  Plan → specs + POMs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D2D2D"/>
                </a:solidFill>
                <a:latin typeface="Arial"/>
              </a:rPr>
              <a:t>•  pom-conventions &amp; api-cleanup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D2D2D"/>
                </a:solidFill>
                <a:latin typeface="Arial"/>
              </a:rPr>
              <a:t>•  Opens feat/* PR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2971800"/>
            <a:ext cx="3657600" cy="288036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2971800"/>
            <a:ext cx="3657600" cy="50292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3063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triage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37033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2D2D2D"/>
                </a:solidFill>
                <a:latin typeface="Arial"/>
              </a:rPr>
              <a:t>•  Read-only on red runs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D2D2D"/>
                </a:solidFill>
                <a:latin typeface="Arial"/>
              </a:rPr>
              <a:t>•  Classifies app bug vs drift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D2D2D"/>
                </a:solidFill>
                <a:latin typeface="Arial"/>
              </a:rPr>
              <a:t>•  Never patches code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83880" y="2971800"/>
            <a:ext cx="3657600" cy="288036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80" y="2971800"/>
            <a:ext cx="3657600" cy="50292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3063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bug-reporter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7033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2D2D2D"/>
                </a:solidFill>
                <a:latin typeface="Arial"/>
              </a:rPr>
              <a:t>•  Files / links Jira bugs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D2D2D"/>
                </a:solidFill>
                <a:latin typeface="Arial"/>
              </a:rPr>
              <a:t>•  Only after real bug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D2D2D"/>
                </a:solidFill>
                <a:latin typeface="Arial"/>
              </a:rPr>
              <a:t>•  Never self-heals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64240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31937"/>
                </a:solidFill>
                <a:latin typeface="Arial"/>
              </a:rPr>
              <a:t>CGI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Arial"/>
              </a:rPr>
              <a:t>QA Harness — Techniques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5C5C"/>
                </a:solidFill>
                <a:latin typeface="Arial"/>
              </a:rPr>
              <a:t>6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Arial"/>
              </a:rPr>
              <a:t>Test stack &amp; skills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Arial"/>
              </a:rPr>
              <a:t>Strict layering + reusable procedures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280160"/>
            <a:ext cx="10972800" cy="548640"/>
          </a:xfrm>
          <a:prstGeom prst="round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features/*.feature.md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37160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E0E5"/>
                </a:solidFill>
                <a:latin typeface="Arial"/>
              </a:rPr>
              <a:t>Gherkin plans — human-reviewed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920240"/>
            <a:ext cx="10972800" cy="5486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Arial"/>
              </a:rPr>
              <a:t>tests/ds*.spec.ts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01168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Arial"/>
              </a:rPr>
              <a:t>Intent + expect() — no inline locators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560320"/>
            <a:ext cx="10972800" cy="5486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651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Arial"/>
              </a:rPr>
              <a:t>pages/*.page.ts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65176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Arial"/>
              </a:rPr>
              <a:t>getByRole + actions — no assertions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200400"/>
            <a:ext cx="10972800" cy="5486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291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Arial"/>
              </a:rPr>
              <a:t>helpers · fixtures · auth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329184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Arial"/>
              </a:rPr>
              <a:t>Shared flows · trackProgram · storageState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023360"/>
            <a:ext cx="3657600" cy="9601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023360"/>
            <a:ext cx="73152" cy="96012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206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Arial"/>
              </a:rPr>
              <a:t>jira-ticket-analyzer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526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Arial"/>
              </a:rPr>
              <a:t>AC → Gherkin plans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4023360"/>
            <a:ext cx="3657600" cy="9601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023360"/>
            <a:ext cx="73152" cy="96012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4206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Arial"/>
              </a:rPr>
              <a:t>explore-and-generate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526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Arial"/>
              </a:rPr>
              <a:t>Coverage gaps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83880" y="4023360"/>
            <a:ext cx="3657600" cy="9601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80" y="4023360"/>
            <a:ext cx="73152" cy="96012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4206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Arial"/>
              </a:rPr>
              <a:t>ci-failure-triage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526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Arial"/>
              </a:rPr>
              <a:t>Logs → diagnosis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074920"/>
            <a:ext cx="3657600" cy="9601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5074920"/>
            <a:ext cx="73152" cy="96012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257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Arial"/>
              </a:rPr>
              <a:t>self-heal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577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Arial"/>
              </a:rPr>
              <a:t>POM drift only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43400" y="5074920"/>
            <a:ext cx="3657600" cy="9601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5074920"/>
            <a:ext cx="73152" cy="96012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0" y="5257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Arial"/>
              </a:rPr>
              <a:t>jira-bug-reporter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5577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Arial"/>
              </a:rPr>
              <a:t>Structured bugs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83880" y="5074920"/>
            <a:ext cx="3657600" cy="9601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83880" y="5074920"/>
            <a:ext cx="73152" cy="96012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0" y="5257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Arial"/>
              </a:rPr>
              <a:t>suite-reliability-eval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5577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Arial"/>
              </a:rPr>
              <a:t>eval-report.md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64240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31937"/>
                </a:solidFill>
                <a:latin typeface="Arial"/>
              </a:rPr>
              <a:t>CGI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Arial"/>
              </a:rPr>
              <a:t>QA Harness — Techniques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5C5C"/>
                </a:solidFill>
                <a:latin typeface="Arial"/>
              </a:rPr>
              <a:t>7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Arial"/>
              </a:rPr>
              <a:t>Conventions &amp; guardrails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Arial"/>
              </a:rPr>
              <a:t>Machines enforce; humans decide risk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280160"/>
            <a:ext cx="3657600" cy="26060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463040"/>
            <a:ext cx="1463040" cy="365760"/>
          </a:xfrm>
          <a:prstGeom prst="round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5087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MUST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0116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Role-based locators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Web-first assertions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storageState via setup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Self-cleaning data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One tag per test()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280160"/>
            <a:ext cx="3657600" cy="26060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26280" y="1463040"/>
            <a:ext cx="1463040" cy="36576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15087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SHOULD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0116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Faker factories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Enums for UI strings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JSDoc on POM actions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280160"/>
            <a:ext cx="3657600" cy="26060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66760" y="1463040"/>
            <a:ext cx="1463040" cy="365760"/>
          </a:xfrm>
          <a:prstGeom prst="roundRect">
            <a:avLst/>
          </a:prstGeom>
          <a:solidFill>
            <a:srgbClr val="8B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15087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WON'T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0116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CSS / XPath as default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waitForTimeout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Weaken assertions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Heal a real app bug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069080"/>
            <a:ext cx="5486400" cy="19202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069080"/>
            <a:ext cx="73152" cy="192024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2519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31937"/>
                </a:solidFill>
                <a:latin typeface="Arial"/>
              </a:rPr>
              <a:t>ENFORCED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617720"/>
            <a:ext cx="5120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Constitution always on · hook blocks weakened expect()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≤5 delegations/task · ≤5 heals/run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Generation gate + main test check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069080"/>
            <a:ext cx="5486400" cy="19202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4069080"/>
            <a:ext cx="73152" cy="192024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2519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31937"/>
                </a:solidFill>
                <a:latin typeface="Arial"/>
              </a:rPr>
              <a:t>HUMAN GATES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617720"/>
            <a:ext cx="5120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Review Gherkin plan before coding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Confidence &lt;5 ask · 5–7 approve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Merge never automated · never invent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64240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31937"/>
                </a:solidFill>
                <a:latin typeface="Arial"/>
              </a:rPr>
              <a:t>CGI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Arial"/>
              </a:rPr>
              <a:t>QA Harness — Techniques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5C5C"/>
                </a:solidFill>
                <a:latin typeface="Arial"/>
              </a:rPr>
              <a:t>8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Arial"/>
              </a:rPr>
              <a:t>Happy path: ticket → green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Arial"/>
              </a:rPr>
              <a:t>One ticket = one PR; humans approve the plan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1554480"/>
            <a:ext cx="1234440" cy="1005840"/>
          </a:xfrm>
          <a:prstGeom prst="roundRect">
            <a:avLst/>
          </a:prstGeom>
          <a:solidFill>
            <a:srgbClr val="E31937"/>
          </a:solidFill>
          <a:ln w="15875">
            <a:solidFill>
              <a:srgbClr val="E31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</a:pPr>
            <a:r>
              <a:rPr sz="1200" b="1">
                <a:solidFill>
                  <a:srgbClr val="FFFFFF"/>
                </a:solidFill>
                <a:latin typeface="Arial"/>
              </a:rPr>
              <a:t>1
Trigger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645920" y="1920240"/>
            <a:ext cx="201168" cy="182880"/>
          </a:xfrm>
          <a:prstGeom prst="rightArrow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874520" y="1554480"/>
            <a:ext cx="1234440" cy="1005840"/>
          </a:xfrm>
          <a:prstGeom prst="roundRect">
            <a:avLst/>
          </a:prstGeom>
          <a:solidFill>
            <a:srgbClr val="F0F0F0"/>
          </a:solidFill>
          <a:ln w="15875">
            <a:solidFill>
              <a:srgbClr val="E31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</a:pPr>
            <a:r>
              <a:rPr sz="1200" b="1">
                <a:solidFill>
                  <a:srgbClr val="1A1A1A"/>
                </a:solidFill>
                <a:latin typeface="Arial"/>
              </a:rPr>
              <a:t>2
Analyze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08960" y="1920240"/>
            <a:ext cx="201168" cy="182880"/>
          </a:xfrm>
          <a:prstGeom prst="rightArrow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37560" y="1554480"/>
            <a:ext cx="1234440" cy="1005840"/>
          </a:xfrm>
          <a:prstGeom prst="roundRect">
            <a:avLst/>
          </a:prstGeom>
          <a:solidFill>
            <a:srgbClr val="F0F0F0"/>
          </a:solidFill>
          <a:ln w="15875">
            <a:solidFill>
              <a:srgbClr val="E31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</a:pPr>
            <a:r>
              <a:rPr sz="1200" b="1">
                <a:solidFill>
                  <a:srgbClr val="1A1A1A"/>
                </a:solidFill>
                <a:latin typeface="Arial"/>
              </a:rPr>
              <a:t>3
Plan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572000" y="1920240"/>
            <a:ext cx="201168" cy="182880"/>
          </a:xfrm>
          <a:prstGeom prst="rightArrow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800600" y="1554480"/>
            <a:ext cx="1234440" cy="1005840"/>
          </a:xfrm>
          <a:prstGeom prst="roundRect">
            <a:avLst/>
          </a:prstGeom>
          <a:solidFill>
            <a:srgbClr val="E31937"/>
          </a:solidFill>
          <a:ln w="15875">
            <a:solidFill>
              <a:srgbClr val="E31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</a:pPr>
            <a:r>
              <a:rPr sz="1200" b="1">
                <a:solidFill>
                  <a:srgbClr val="FFFFFF"/>
                </a:solidFill>
                <a:latin typeface="Arial"/>
              </a:rPr>
              <a:t>4
Review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035040" y="1920240"/>
            <a:ext cx="201168" cy="182880"/>
          </a:xfrm>
          <a:prstGeom prst="rightArrow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1554480"/>
            <a:ext cx="1234440" cy="1005840"/>
          </a:xfrm>
          <a:prstGeom prst="roundRect">
            <a:avLst/>
          </a:prstGeom>
          <a:solidFill>
            <a:srgbClr val="F0F0F0"/>
          </a:solidFill>
          <a:ln w="15875">
            <a:solidFill>
              <a:srgbClr val="E31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</a:pPr>
            <a:r>
              <a:rPr sz="1200" b="1">
                <a:solidFill>
                  <a:srgbClr val="1A1A1A"/>
                </a:solidFill>
                <a:latin typeface="Arial"/>
              </a:rPr>
              <a:t>5
Write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498080" y="1920240"/>
            <a:ext cx="201168" cy="182880"/>
          </a:xfrm>
          <a:prstGeom prst="rightArrow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26680" y="1554480"/>
            <a:ext cx="1234440" cy="1005840"/>
          </a:xfrm>
          <a:prstGeom prst="roundRect">
            <a:avLst/>
          </a:prstGeom>
          <a:solidFill>
            <a:srgbClr val="F0F0F0"/>
          </a:solidFill>
          <a:ln w="15875">
            <a:solidFill>
              <a:srgbClr val="E31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</a:pPr>
            <a:r>
              <a:rPr sz="1200" b="1">
                <a:solidFill>
                  <a:srgbClr val="1A1A1A"/>
                </a:solidFill>
                <a:latin typeface="Arial"/>
              </a:rPr>
              <a:t>6
Run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961120" y="1920240"/>
            <a:ext cx="201168" cy="182880"/>
          </a:xfrm>
          <a:prstGeom prst="rightArrow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89720" y="1554480"/>
            <a:ext cx="1234440" cy="1005840"/>
          </a:xfrm>
          <a:prstGeom prst="roundRect">
            <a:avLst/>
          </a:prstGeom>
          <a:solidFill>
            <a:srgbClr val="F0F0F0"/>
          </a:solidFill>
          <a:ln w="15875">
            <a:solidFill>
              <a:srgbClr val="E31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</a:pPr>
            <a:r>
              <a:rPr sz="1200" b="1">
                <a:solidFill>
                  <a:srgbClr val="1A1A1A"/>
                </a:solidFill>
                <a:latin typeface="Arial"/>
              </a:rPr>
              <a:t>7
PR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10424160" y="1920240"/>
            <a:ext cx="201168" cy="182880"/>
          </a:xfrm>
          <a:prstGeom prst="rightArrow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652760" y="1554480"/>
            <a:ext cx="1234440" cy="1005840"/>
          </a:xfrm>
          <a:prstGeom prst="roundRect">
            <a:avLst/>
          </a:prstGeom>
          <a:solidFill>
            <a:srgbClr val="E31937"/>
          </a:solidFill>
          <a:ln w="15875">
            <a:solidFill>
              <a:srgbClr val="E31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</a:pPr>
            <a:r>
              <a:rPr sz="1200" b="1">
                <a:solidFill>
                  <a:srgbClr val="FFFFFF"/>
                </a:solidFill>
                <a:latin typeface="Arial"/>
              </a:rPr>
              <a:t>8
Eval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017520"/>
            <a:ext cx="5394960" cy="28346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017520"/>
            <a:ext cx="73152" cy="283464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200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31937"/>
                </a:solidFill>
                <a:latin typeface="Arial"/>
              </a:rPr>
              <a:t>HUMAN IN THE LOOP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566160"/>
            <a:ext cx="50292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Plan review before any specs are written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PR merge never automated by agents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Confidence gate on uncertain edits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017520"/>
            <a:ext cx="5394960" cy="28346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3017520"/>
            <a:ext cx="73152" cy="283464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3200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31937"/>
                </a:solidFill>
                <a:latin typeface="Arial"/>
              </a:rPr>
              <a:t>QUALITY GATES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566160"/>
            <a:ext cx="50292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CI job test green after PR open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eval-report.md refreshed before Done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Empty/red checks → stop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64240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31937"/>
                </a:solidFill>
                <a:latin typeface="Arial"/>
              </a:rPr>
              <a:t>CGI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Arial"/>
              </a:rPr>
              <a:t>QA Harness — Techniques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5C5C"/>
                </a:solidFill>
                <a:latin typeface="Arial"/>
              </a:rPr>
              <a:t>9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Arial"/>
              </a:rPr>
              <a:t>Heal on red &amp; 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Arial"/>
              </a:rPr>
              <a:t>Classify first — right signal at the right 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325880"/>
            <a:ext cx="3657600" cy="20116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325880"/>
            <a:ext cx="3657600" cy="9144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600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1937"/>
                </a:solidFill>
                <a:latin typeface="Arial"/>
              </a:rPr>
              <a:t>Real app bug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0574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bug-reporter → Jira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Never self-heal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325880"/>
            <a:ext cx="3657600" cy="20116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325880"/>
            <a:ext cx="3657600" cy="914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600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Locator drift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0574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self-heal → patch pages/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Assertions unchanged · ≤5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1325880"/>
            <a:ext cx="3657600" cy="20116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80" y="1325880"/>
            <a:ext cx="3657600" cy="91440"/>
          </a:xfrm>
          <a:prstGeom prst="rect">
            <a:avLst/>
          </a:prstGeom>
          <a:solidFill>
            <a:srgbClr val="8B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600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528"/>
                </a:solidFill>
                <a:latin typeface="Arial"/>
              </a:rPr>
              <a:t>Inconclusive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0574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Stop &amp; escalate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No silent guess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5661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31937"/>
                </a:solidFill>
                <a:latin typeface="Arial"/>
              </a:rPr>
              <a:t>Trigger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566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31937"/>
                </a:solidFill>
                <a:latin typeface="Arial"/>
              </a:rPr>
              <a:t>Suite / job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566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31937"/>
                </a:solidFill>
                <a:latin typeface="Arial"/>
              </a:rPr>
              <a:t>Intent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931920"/>
            <a:ext cx="11064240" cy="438912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0050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>Pull request → main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0050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>@smoke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0050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>Fast confidence on every PR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434840"/>
            <a:ext cx="11064240" cy="438912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50799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>Push → main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45079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>@sanity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5079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>Broader post-merge check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937760"/>
            <a:ext cx="11064240" cy="438912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0109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>Manual dispatch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50109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>@regression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50109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>Full suite on demand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440680"/>
            <a:ext cx="11064240" cy="438912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51383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>Daily cron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55138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>QA orchestrator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55138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>Backlog via cursor-agent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64240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31937"/>
                </a:solidFill>
                <a:latin typeface="Arial"/>
              </a:rPr>
              <a:t>CGI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Arial"/>
              </a:rPr>
              <a:t>QA Harness — Techniques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5C5C"/>
                </a:solidFill>
                <a:latin typeface="Arial"/>
              </a:rPr>
              <a:t>10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Arial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Arial"/>
              </a:rPr>
              <a:t>Techniques you can reuse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417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Arial"/>
              </a:rPr>
              <a:t>Separate coordination from specialist work — orchestrator delegates, agents stay narrow.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011680"/>
            <a:ext cx="411480" cy="411480"/>
          </a:xfrm>
          <a:prstGeom prst="ellipse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0574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Arial"/>
              </a:rPr>
              <a:t>Encode process as skills; encode safety as constitution + hooks, not hope.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2651760"/>
            <a:ext cx="411480" cy="411480"/>
          </a:xfrm>
          <a:prstGeom prst="ellipse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6974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Arial"/>
              </a:rPr>
              <a:t>Layer tests: plans → assertions → locators → data.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291840"/>
            <a:ext cx="411480" cy="411480"/>
          </a:xfrm>
          <a:prstGeom prst="ellipse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3375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Arial"/>
              </a:rPr>
              <a:t>Classify before healing — drift → POM; product bugs → Jira.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931920"/>
            <a:ext cx="411480" cy="411480"/>
          </a:xfrm>
          <a:prstGeom prst="ellipse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977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Arial"/>
              </a:rPr>
              <a:t>Humans own plan approval and merge; agents own speed inside those rails.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31937"/>
                </a:solidFill>
                <a:latin typeface="Arial"/>
              </a:rPr>
              <a:t>Questions?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349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Arial"/>
              </a:rPr>
              <a:t>docs/harness-diagram.md · .cursor/rules/ · .cursor/skills/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